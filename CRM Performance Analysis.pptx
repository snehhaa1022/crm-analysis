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59" r:id="rId4"/>
    <p:sldId id="266" r:id="rId5"/>
    <p:sldId id="267" r:id="rId6"/>
    <p:sldId id="268" r:id="rId7"/>
    <p:sldId id="269" r:id="rId8"/>
    <p:sldId id="270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Space Grotesk" panose="020B0604020202020204" charset="0"/>
      <p:regular r:id="rId19"/>
      <p:bold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  <p:embeddedFont>
      <p:font typeface="Urbanist SemiBold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FFDB"/>
    <a:srgbClr val="65F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16411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818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5537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659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86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8440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5895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6255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53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5536" y="1928812"/>
            <a:ext cx="7420927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CRM Performance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Analysis Report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62225" y="3871912"/>
            <a:ext cx="7067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Data-Driven Insights for Customer Relationship Optimization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65FFDB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Summary &amp; Objectives</a:t>
            </a:r>
            <a:endParaRPr dirty="0">
              <a:solidFill>
                <a:srgbClr val="65FFDB"/>
              </a:solidFill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65FF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65FF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7462"/>
            <a:ext cx="5238750" cy="254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57462"/>
            <a:ext cx="5238750" cy="254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08;p15"/>
          <p:cNvSpPr txBox="1"/>
          <p:nvPr/>
        </p:nvSpPr>
        <p:spPr>
          <a:xfrm>
            <a:off x="857250" y="2843212"/>
            <a:ext cx="49006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IMPACT ANALYSIS</a:t>
            </a:r>
            <a:endParaRPr/>
          </a:p>
        </p:txBody>
      </p:sp>
      <p:sp>
        <p:nvSpPr>
          <p:cNvPr id="16" name="Google Shape;109;p15"/>
          <p:cNvSpPr txBox="1"/>
          <p:nvPr/>
        </p:nvSpPr>
        <p:spPr>
          <a:xfrm>
            <a:off x="857250" y="3233737"/>
            <a:ext cx="46672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The primary objective was to deconstruct the sales funnel to identify where high-value leads are lost. By analyzing 10,000 leads, we aimed to provide a blueprint for increasing the 31% conversion rate through targeted industry interventions and geographic focus.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" name="Google Shape;110;p15"/>
          <p:cNvSpPr txBox="1"/>
          <p:nvPr/>
        </p:nvSpPr>
        <p:spPr>
          <a:xfrm>
            <a:off x="6667500" y="2843212"/>
            <a:ext cx="49006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ANALYTICAL SCOPE</a:t>
            </a:r>
            <a:endParaRPr/>
          </a:p>
        </p:txBody>
      </p:sp>
      <p:sp>
        <p:nvSpPr>
          <p:cNvPr id="18" name="Google Shape;111;p15"/>
          <p:cNvSpPr txBox="1"/>
          <p:nvPr/>
        </p:nvSpPr>
        <p:spPr>
          <a:xfrm>
            <a:off x="6667500" y="3233737"/>
            <a:ext cx="46672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Our methodology followed a rigorous path: Extracting raw CRM logs, transforming them via SQL, validating outliers in Excel, and finally deploying dynamic dashboards that allow stakeholders to pivot data across time, department, and industry sectors.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  <a:duotone>
              <a:prstClr val="black"/>
              <a:srgbClr val="65FF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8953500" y="2014537"/>
            <a:ext cx="266700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duotone>
              <a:prstClr val="black"/>
              <a:srgbClr val="65FFDB">
                <a:tint val="45000"/>
                <a:satMod val="400000"/>
              </a:srgbClr>
            </a:duotone>
            <a:alphaModFix/>
          </a:blip>
          <a:srcRect/>
          <a:stretch/>
        </p:blipFill>
        <p:spPr>
          <a:xfrm>
            <a:off x="6096000" y="3433762"/>
            <a:ext cx="266700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duotone>
              <a:prstClr val="black"/>
              <a:srgbClr val="65FFDB">
                <a:tint val="45000"/>
                <a:satMod val="400000"/>
              </a:srgbClr>
            </a:duotone>
            <a:alphaModFix/>
          </a:blip>
          <a:srcRect/>
          <a:stretch/>
        </p:blipFill>
        <p:spPr>
          <a:xfrm>
            <a:off x="8953500" y="3433762"/>
            <a:ext cx="266700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2286000" y="5283660"/>
            <a:ext cx="7620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CRM data reveals a healthy conversion pipeline with over 3,000 accounts generated from 10,000 leads, maintaining a high sales-to-expected ratio.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433388" y="2380654"/>
            <a:ext cx="55245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i="0" u="none" strike="noStrike" cap="none" dirty="0">
                <a:solidFill>
                  <a:schemeClr val="bg1"/>
                </a:solidFill>
                <a:latin typeface="Space Grotesk"/>
                <a:ea typeface="Space Grotesk"/>
                <a:cs typeface="Space Grotesk"/>
                <a:sym typeface="Space Grotesk"/>
              </a:rPr>
              <a:t>31.06%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33388" y="3822632"/>
            <a:ext cx="55245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Overall Conversion Rate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372225" y="2252662"/>
            <a:ext cx="22602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Total Leads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72225" y="2547937"/>
            <a:ext cx="2152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10,000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229725" y="2252662"/>
            <a:ext cx="22602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Total Accounts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9229725" y="2547937"/>
            <a:ext cx="2152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3,052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372225" y="3671887"/>
            <a:ext cx="22602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Sales Price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372225" y="3967162"/>
            <a:ext cx="2152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$192.95M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229725" y="3671887"/>
            <a:ext cx="22602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Expected Amount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229725" y="3967162"/>
            <a:ext cx="2152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$184.14M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65FFDB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Performance Indicators</a:t>
            </a:r>
            <a:endParaRPr dirty="0">
              <a:solidFill>
                <a:srgbClr val="65FFDB"/>
              </a:solidFill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65FF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127;p16" descr="image.png"/>
          <p:cNvPicPr preferRelativeResize="0"/>
          <p:nvPr/>
        </p:nvPicPr>
        <p:blipFill rotWithShape="1">
          <a:blip r:embed="rId4">
            <a:duotone>
              <a:prstClr val="black"/>
              <a:srgbClr val="65FFDB">
                <a:tint val="45000"/>
                <a:satMod val="400000"/>
              </a:srgbClr>
            </a:duotone>
            <a:alphaModFix/>
          </a:blip>
          <a:srcRect/>
          <a:stretch/>
        </p:blipFill>
        <p:spPr>
          <a:xfrm>
            <a:off x="6115050" y="1989698"/>
            <a:ext cx="26670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/>
        </p:nvSpPr>
        <p:spPr>
          <a:xfrm>
            <a:off x="627514" y="111849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65FFDB"/>
                </a:solidFill>
                <a:latin typeface="Space Grotesk"/>
                <a:ea typeface="Space Grotesk"/>
                <a:cs typeface="Space Grotesk"/>
                <a:sym typeface="Space Grotesk"/>
              </a:rPr>
              <a:t>EXCEL</a:t>
            </a:r>
            <a:endParaRPr dirty="0">
              <a:solidFill>
                <a:srgbClr val="65FFDB"/>
              </a:solidFill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4388" y="96791"/>
            <a:ext cx="47625" cy="504825"/>
          </a:xfrm>
          <a:prstGeom prst="rect">
            <a:avLst/>
          </a:prstGeom>
          <a:solidFill>
            <a:srgbClr val="65FF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A107A-7618-54BA-EA4A-95DE8ADA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61" y="713065"/>
            <a:ext cx="11716450" cy="58135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04850" y="86752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65FFDB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POWERBI</a:t>
            </a:r>
            <a:endParaRPr dirty="0">
              <a:solidFill>
                <a:srgbClr val="65FFDB"/>
              </a:solidFill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86752"/>
            <a:ext cx="47625" cy="504825"/>
          </a:xfrm>
          <a:prstGeom prst="rect">
            <a:avLst/>
          </a:prstGeom>
          <a:solidFill>
            <a:srgbClr val="65FF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8AB82-0E0B-C3B2-454B-F4B71BD5B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08" y="678329"/>
            <a:ext cx="11680184" cy="594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04850" y="86752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65FFDB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TABLEAU</a:t>
            </a:r>
            <a:endParaRPr dirty="0">
              <a:solidFill>
                <a:srgbClr val="65FFDB"/>
              </a:solidFill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66675"/>
            <a:ext cx="47625" cy="504825"/>
          </a:xfrm>
          <a:prstGeom prst="rect">
            <a:avLst/>
          </a:prstGeom>
          <a:solidFill>
            <a:srgbClr val="65FF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E76F84-95C4-5FEF-74BA-DAB880A07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29" y="742716"/>
            <a:ext cx="11781541" cy="592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2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65FFDB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</a:t>
            </a:r>
            <a:endParaRPr dirty="0">
              <a:solidFill>
                <a:srgbClr val="65FFDB"/>
              </a:solidFill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65FF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3FAA69-3251-E221-31AF-5450D4BF1A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374" r="2424"/>
          <a:stretch>
            <a:fillRect/>
          </a:stretch>
        </p:blipFill>
        <p:spPr>
          <a:xfrm>
            <a:off x="177555" y="1136341"/>
            <a:ext cx="2911874" cy="5948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EC8C20-3745-D0BC-5CC2-0F2B38A8D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736" y="6359425"/>
            <a:ext cx="787181" cy="4135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6DC005C-E43B-E51E-7EB5-67A309DDB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819" y="6361872"/>
            <a:ext cx="755373" cy="41263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8B024CB-E713-7932-985C-A54EFCD62F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550"/>
          <a:stretch>
            <a:fillRect/>
          </a:stretch>
        </p:blipFill>
        <p:spPr>
          <a:xfrm>
            <a:off x="168675" y="1740023"/>
            <a:ext cx="2920753" cy="5106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98D7AC3-0B05-BB78-B431-3EDDEE886B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3275" r="2519"/>
          <a:stretch>
            <a:fillRect/>
          </a:stretch>
        </p:blipFill>
        <p:spPr>
          <a:xfrm>
            <a:off x="177555" y="2290439"/>
            <a:ext cx="2929630" cy="154471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C9E11FE-DC0A-BB82-266C-A533D4E4070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2142" r="2941"/>
          <a:stretch>
            <a:fillRect/>
          </a:stretch>
        </p:blipFill>
        <p:spPr>
          <a:xfrm>
            <a:off x="3116062" y="1127467"/>
            <a:ext cx="3551067" cy="113634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22E41B6-2FA3-D23A-3C92-1765E234EEB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942" r="4751"/>
          <a:stretch>
            <a:fillRect/>
          </a:stretch>
        </p:blipFill>
        <p:spPr>
          <a:xfrm>
            <a:off x="3157618" y="2329518"/>
            <a:ext cx="3491757" cy="323678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C04A401-8813-3FD8-5484-088F394B5D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396" y="1127465"/>
            <a:ext cx="2974020" cy="196196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3741845-1399-B545-823B-F153471CA9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9274" y="3122416"/>
            <a:ext cx="1358283" cy="202663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CDC7C22-DAC9-2CCA-2AFB-DA031B19BE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53724" y="5614521"/>
            <a:ext cx="3504528" cy="115026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88C81C7-565A-595F-2EF6-4F6ACB0F26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8786" y="3146974"/>
            <a:ext cx="2440356" cy="175102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2811EF2-3008-EC59-A34C-1F5A34DDF7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956" y="3888420"/>
            <a:ext cx="2937228" cy="2894120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1AB121A9-07E1-4332-C215-3C287887E1F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21049" y="1118301"/>
            <a:ext cx="2388093" cy="1971128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2F551295-5CCF-2888-2BC6-0A600F325A1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2203" b="47662"/>
          <a:stretch>
            <a:fillRect/>
          </a:stretch>
        </p:blipFill>
        <p:spPr>
          <a:xfrm>
            <a:off x="9668786" y="4926721"/>
            <a:ext cx="2432405" cy="1417107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55CE9605-6E99-F103-0ACF-1DA2F8E7C7A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75842" r="82966"/>
          <a:stretch>
            <a:fillRect/>
          </a:stretch>
        </p:blipFill>
        <p:spPr>
          <a:xfrm>
            <a:off x="11251095" y="6362896"/>
            <a:ext cx="834887" cy="411615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F2AD565E-AD8B-2D77-1722-44127419B6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0475" y="3130151"/>
            <a:ext cx="1538479" cy="2022294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79B00709-CAFB-4888-DE74-A2D2D38860B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34757" y="5168348"/>
            <a:ext cx="1360854" cy="1598212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48B3C1FB-4091-B4F3-8C84-EFA9E6A11AC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10330" y="5173010"/>
            <a:ext cx="1526651" cy="160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53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/>
          <p:cNvGrpSpPr/>
          <p:nvPr/>
        </p:nvGrpSpPr>
        <p:grpSpPr>
          <a:xfrm>
            <a:off x="571500" y="5420551"/>
            <a:ext cx="11023869" cy="346249"/>
            <a:chOff x="571500" y="5314676"/>
            <a:chExt cx="11023869" cy="346249"/>
          </a:xfrm>
        </p:grpSpPr>
        <p:sp>
          <p:nvSpPr>
            <p:cNvPr id="235" name="Google Shape;235;p23"/>
            <p:cNvSpPr txBox="1"/>
            <p:nvPr/>
          </p:nvSpPr>
          <p:spPr>
            <a:xfrm>
              <a:off x="904874" y="5314676"/>
              <a:ext cx="10690495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chemeClr val="bg1"/>
                  </a:solidFill>
                  <a:latin typeface="Urbanist"/>
                  <a:ea typeface="Urbanist"/>
                  <a:cs typeface="Urbanist"/>
                  <a:sym typeface="Urbanist"/>
                </a:rPr>
                <a:t>Key Clients : </a:t>
              </a:r>
              <a:r>
                <a:rPr lang="en-US" sz="1500" b="0" i="0" u="none" strike="noStrike" cap="none" dirty="0" err="1">
                  <a:solidFill>
                    <a:schemeClr val="bg1"/>
                  </a:solidFill>
                  <a:latin typeface="Urbanist"/>
                  <a:ea typeface="Urbanist"/>
                  <a:cs typeface="Urbanist"/>
                  <a:sym typeface="Urbanist"/>
                </a:rPr>
                <a:t>Unifiing</a:t>
              </a:r>
              <a:r>
                <a:rPr lang="en-US" sz="1500" b="0" i="0" u="none" strike="noStrike" cap="none" dirty="0">
                  <a:solidFill>
                    <a:schemeClr val="bg1"/>
                  </a:solidFill>
                  <a:latin typeface="Urbanist"/>
                  <a:ea typeface="Urbanist"/>
                  <a:cs typeface="Urbanist"/>
                  <a:sym typeface="Urbanist"/>
                </a:rPr>
                <a:t> Inc. is the top contributor ($114M). Strengthening enterprise relationships is critical for recurring revenue.</a:t>
              </a:r>
              <a:endParaRPr sz="1500" dirty="0">
                <a:solidFill>
                  <a:schemeClr val="bg1"/>
                </a:solidFill>
              </a:endParaRPr>
            </a:p>
          </p:txBody>
        </p:sp>
        <p:pic>
          <p:nvPicPr>
            <p:cNvPr id="238" name="Google Shape;238;p23" descr="image.png"/>
            <p:cNvPicPr preferRelativeResize="0"/>
            <p:nvPr/>
          </p:nvPicPr>
          <p:blipFill rotWithShape="1">
            <a:blip r:embed="rId4">
              <a:alphaModFix/>
              <a:duotone>
                <a:prstClr val="black"/>
                <a:srgbClr val="64FFDB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571500" y="5365151"/>
              <a:ext cx="219075" cy="2418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65FFDB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Takeaways &amp; Strategy</a:t>
            </a:r>
            <a:endParaRPr dirty="0">
              <a:solidFill>
                <a:srgbClr val="65FFDB"/>
              </a:solidFill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65FF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71500" y="1896575"/>
            <a:ext cx="11023870" cy="738664"/>
            <a:chOff x="571500" y="1790700"/>
            <a:chExt cx="11023870" cy="738664"/>
          </a:xfrm>
        </p:grpSpPr>
        <p:sp>
          <p:nvSpPr>
            <p:cNvPr id="17" name="Google Shape;245;p23"/>
            <p:cNvSpPr txBox="1"/>
            <p:nvPr/>
          </p:nvSpPr>
          <p:spPr>
            <a:xfrm>
              <a:off x="904875" y="1790700"/>
              <a:ext cx="10690495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rPr>
                <a:t>Industry Prioritization:</a:t>
              </a:r>
              <a:r>
                <a:rPr lang="en-US" sz="15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rPr>
                <a:t> The Safety and Security sector represents over 32% of total industry-led sales ($63.41M). Future marketing spend should be disproportionately allocated to this high-yield sector.</a:t>
              </a:r>
              <a:endParaRPr dirty="0">
                <a:solidFill>
                  <a:schemeClr val="bg1"/>
                </a:solidFill>
              </a:endParaRPr>
            </a:p>
          </p:txBody>
        </p:sp>
        <p:pic>
          <p:nvPicPr>
            <p:cNvPr id="20" name="Google Shape;248;p2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1833562"/>
              <a:ext cx="219075" cy="200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oup 1"/>
          <p:cNvGrpSpPr/>
          <p:nvPr/>
        </p:nvGrpSpPr>
        <p:grpSpPr>
          <a:xfrm>
            <a:off x="571500" y="3034020"/>
            <a:ext cx="11257334" cy="738664"/>
            <a:chOff x="571500" y="2928145"/>
            <a:chExt cx="11257334" cy="738664"/>
          </a:xfrm>
        </p:grpSpPr>
        <p:sp>
          <p:nvSpPr>
            <p:cNvPr id="18" name="Google Shape;246;p23"/>
            <p:cNvSpPr txBox="1"/>
            <p:nvPr/>
          </p:nvSpPr>
          <p:spPr>
            <a:xfrm>
              <a:off x="904875" y="2928145"/>
              <a:ext cx="1092395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rPr>
                <a:t>Conversion Bottlenecks:</a:t>
              </a:r>
              <a:r>
                <a:rPr lang="en-US" sz="15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rPr>
                <a:t> With 1,935 leads "Closed Lost" compared to 813 "Closed Won," there is a critical need to analyze the "Qualified Opportunity" stage to prevent leakage in the mid-funnel.</a:t>
              </a:r>
              <a:endParaRPr dirty="0">
                <a:solidFill>
                  <a:schemeClr val="bg1"/>
                </a:solidFill>
              </a:endParaRPr>
            </a:p>
          </p:txBody>
        </p:sp>
        <p:pic>
          <p:nvPicPr>
            <p:cNvPr id="21" name="Google Shape;249;p23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1500" y="2971007"/>
              <a:ext cx="190500" cy="200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/>
          <p:cNvGrpSpPr/>
          <p:nvPr/>
        </p:nvGrpSpPr>
        <p:grpSpPr>
          <a:xfrm>
            <a:off x="571500" y="4252523"/>
            <a:ext cx="11257334" cy="738664"/>
            <a:chOff x="571500" y="4274734"/>
            <a:chExt cx="11257334" cy="738664"/>
          </a:xfrm>
        </p:grpSpPr>
        <p:sp>
          <p:nvSpPr>
            <p:cNvPr id="19" name="Google Shape;247;p23"/>
            <p:cNvSpPr txBox="1"/>
            <p:nvPr/>
          </p:nvSpPr>
          <p:spPr>
            <a:xfrm>
              <a:off x="904875" y="4274734"/>
              <a:ext cx="1092395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rPr>
                <a:t>2016 Peak Recovery:</a:t>
              </a:r>
              <a:r>
                <a:rPr lang="en-US" sz="1500" b="0" i="0" u="none" strike="noStrike" cap="none" dirty="0">
                  <a:solidFill>
                    <a:schemeClr val="bg1"/>
                  </a:solidFill>
                  <a:latin typeface="Open Sans"/>
                  <a:ea typeface="Open Sans"/>
                  <a:cs typeface="Open Sans"/>
                  <a:sym typeface="Open Sans"/>
                </a:rPr>
                <a:t> 2016 reached a record $355M. Post-2016 trends show a decline; a retrospective review of sales tactics from that period could provide actionable recovery strategies.</a:t>
              </a:r>
              <a:endParaRPr dirty="0">
                <a:solidFill>
                  <a:schemeClr val="bg1"/>
                </a:solidFill>
              </a:endParaRPr>
            </a:p>
          </p:txBody>
        </p:sp>
        <p:pic>
          <p:nvPicPr>
            <p:cNvPr id="22" name="Google Shape;250;p2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1500" y="4375964"/>
              <a:ext cx="190500" cy="20002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9829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280</Words>
  <Application>Microsoft Office PowerPoint</Application>
  <PresentationFormat>Widescreen</PresentationFormat>
  <Paragraphs>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Open Sans</vt:lpstr>
      <vt:lpstr>Space Grotesk</vt:lpstr>
      <vt:lpstr>Urbanist SemiBold</vt:lpstr>
      <vt:lpstr>Urbanist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KANDULA HEMASREE</cp:lastModifiedBy>
  <cp:revision>5</cp:revision>
  <dcterms:modified xsi:type="dcterms:W3CDTF">2026-04-10T16:11:12Z</dcterms:modified>
</cp:coreProperties>
</file>